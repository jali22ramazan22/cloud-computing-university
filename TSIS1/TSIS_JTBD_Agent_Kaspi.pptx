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E0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60320"/>
            <a:ext cx="7772400" cy="54864"/>
          </a:xfrm>
          <a:prstGeom prst="rect">
            <a:avLst/>
          </a:prstGeom>
          <a:solidFill>
            <a:srgbClr val="53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3B8D4"/>
                </a:solidFill>
              </a:rPr>
              <a:t>TSIS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JTBD Interviewer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F4F8"/>
                </a:solidFill>
              </a:rPr>
              <a:t>AI-Powered Legal Compliance Agent for Kaspi 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AAB8"/>
                </a:solidFill>
              </a:rPr>
              <a:t>Cloud Computing for Big Data  ·  7 Points  ·  Week 4</a:t>
            </a:r>
          </a:p>
          <a:p>
            <a:pPr algn="l"/>
            <a:r>
              <a:rPr sz="1600" b="0">
                <a:solidFill>
                  <a:srgbClr val="A0AAB8"/>
                </a:solidFill>
              </a:rPr>
              <a:t>Company: Kaspi Bank JSC  ·  Domain: Legal Compliance</a:t>
            </a:r>
          </a:p>
          <a:p>
            <a:pPr algn="l"/>
            <a:r>
              <a:rPr sz="1600" b="0">
                <a:solidFill>
                  <a:srgbClr val="A0AAB8"/>
                </a:solidFill>
              </a:rPr>
              <a:t>Student deliverable: Strategic Portfolio (5 artifacts)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4206240"/>
            <a:ext cx="3749039" cy="2286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4206240"/>
            <a:ext cx="3749039" cy="54864"/>
          </a:xfrm>
          <a:prstGeom prst="rect">
            <a:avLst/>
          </a:prstGeom>
          <a:solidFill>
            <a:srgbClr val="53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4251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3B8D4"/>
                </a:solidFill>
              </a:rPr>
              <a:t>KASPI FY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466344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$5.32B Revenue  (+32% YoY)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$2.18B Net Income  (+25% YoY)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10.2M Monthly Active Users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75% Operating Margin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45720"/>
          </a:xfrm>
          <a:prstGeom prst="rect">
            <a:avLst/>
          </a:prstGeom>
          <a:solidFill>
            <a:srgbClr val="E0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3B8D4"/>
                </a:solidFill>
              </a:rPr>
              <a:t>ASSIGNMENT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Scenario &amp; Mission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61288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3B8D4"/>
                </a:solidFill>
              </a:rPr>
              <a:t>⚡  THE 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You are appointed Head of Cloud Transformation at Kaspi Bank. The Board demands 'Digital Transformation' and wants AI integrated into Legal Compliance. However the org is stuck in an IT-Service mindset, not a Product Operating Model. Your mission: diagnose the gaps, find the real problem, present a governed roadmap.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51760"/>
            <a:ext cx="3749039" cy="384048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651760"/>
            <a:ext cx="3749039" cy="73152"/>
          </a:xfrm>
          <a:prstGeom prst="rect">
            <a:avLst/>
          </a:prstGeom>
          <a:solidFill>
            <a:srgbClr val="E0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26974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1C24"/>
                </a:solidFill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99923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Strategic
Diagnosis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794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1C24"/>
                </a:solidFill>
              </a:rPr>
              <a:t>Cagan 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416052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</a:rPr>
              <a:t>Audit Kaspi against
Marty Cagan's Product
Operating Model using
real Annual Reports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2651760"/>
            <a:ext cx="3749039" cy="384048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2651760"/>
            <a:ext cx="3749039" cy="73152"/>
          </a:xfrm>
          <a:prstGeom prst="rect">
            <a:avLst/>
          </a:prstGeom>
          <a:solidFill>
            <a:srgbClr val="53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6974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3B8D4"/>
                </a:solidFill>
              </a:rP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99923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Deep
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794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3B8D4"/>
                </a:solidFill>
              </a:rPr>
              <a:t>JTBD Simulation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16052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</a:rPr>
              <a:t>Interview an AI persona
(Kaspi Legal Officer)
using 5 Whys to find
the root cause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651760"/>
            <a:ext cx="3749039" cy="384048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2651760"/>
            <a:ext cx="3749039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26974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99923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Managerial
Defense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794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Governance &amp; Finance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16052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</a:rPr>
              <a:t>Calculate ROI, apply
Kazakhstan AI Ethics
test, write Go/No-Go
executive summary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39" y="6035040"/>
            <a:ext cx="411480" cy="411480"/>
          </a:xfrm>
          <a:prstGeom prst="rect">
            <a:avLst/>
          </a:prstGeom>
          <a:solidFill>
            <a:srgbClr val="E0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47871" y="607161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79" y="6035040"/>
            <a:ext cx="411480" cy="411480"/>
          </a:xfrm>
          <a:prstGeom prst="rect">
            <a:avLst/>
          </a:prstGeom>
          <a:solidFill>
            <a:srgbClr val="53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25511" y="607161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75720" y="6035040"/>
            <a:ext cx="41148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503152" y="607161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8B0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45720"/>
          </a:xfrm>
          <a:prstGeom prst="rect">
            <a:avLst/>
          </a:prstGeom>
          <a:solidFill>
            <a:srgbClr val="E0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AAA"/>
                </a:solidFill>
              </a:rPr>
              <a:t>PHASE 1 — STRATEGIC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 Cagan Audit: System Prompt &amp; 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303520" cy="5394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303520" cy="54864"/>
          </a:xfrm>
          <a:prstGeom prst="rect">
            <a:avLst/>
          </a:prstGeom>
          <a:solidFill>
            <a:srgbClr val="E0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1C24"/>
                </a:solidFill>
              </a:rPr>
              <a:t>📂  CONTEXT LOADED INTO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1.  Kaspi FY 2024 Annual Report (SEC 20-F)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     Revenue $5.32B · Margin 75% · 9,637 staff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2.  4Q/FY 2024 Earnings Release (ir.kaspi.kz)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     10.2M MAU · GMV +39% · Payments +40%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3.  KASE Disclosure (ticker: CSBN)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     3 regulators: NBK, AFDRA, FinMonitoring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4.  ESG Report 2023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     $5M community investment · Sustainalytics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5.  Governance pages (ir.kaspi.kz)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     CEO Lomtadze (Harvard MBA) · NPS-based mgmt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143000"/>
            <a:ext cx="6035040" cy="5394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52160" y="1143000"/>
            <a:ext cx="6035040" cy="54864"/>
          </a:xfrm>
          <a:prstGeom prst="rect">
            <a:avLst/>
          </a:prstGeom>
          <a:solidFill>
            <a:srgbClr val="E0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1887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1C24"/>
                </a:solidFill>
              </a:rPr>
              <a:t>🔍  CAGAN'S 4 PILLARS AUDITED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600200"/>
            <a:ext cx="411480" cy="411480"/>
          </a:xfrm>
          <a:prstGeom prst="rect">
            <a:avLst/>
          </a:prstGeom>
          <a:solidFill>
            <a:srgbClr val="E0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163677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6002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Empowered Product Teams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874519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Do back-office teams own outcomes
or just execute tickets?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16002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67E22"/>
                </a:solidFill>
              </a:rPr>
              <a:t>⚠️ PARTIAL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2807208"/>
            <a:ext cx="411480" cy="411480"/>
          </a:xfrm>
          <a:prstGeom prst="rect">
            <a:avLst/>
          </a:prstGeom>
          <a:solidFill>
            <a:srgbClr val="E0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284378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80720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Outcome vs.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08152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Does Legal measure impact or
just contracts-reviewed count?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280720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01C24"/>
                </a:solidFill>
              </a:rPr>
              <a:t>❌ FAIL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4014216"/>
            <a:ext cx="411480" cy="411480"/>
          </a:xfrm>
          <a:prstGeom prst="rect">
            <a:avLst/>
          </a:prstGeom>
          <a:solidFill>
            <a:srgbClr val="E0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405079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01421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Continuous Discovery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28853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Does Legal interview internal
customers to find unmet needs?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401421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01C24"/>
                </a:solidFill>
              </a:rPr>
              <a:t>❌ FAIL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5221224"/>
            <a:ext cx="411480" cy="411480"/>
          </a:xfrm>
          <a:prstGeom prst="rect">
            <a:avLst/>
          </a:prstGeom>
          <a:solidFill>
            <a:srgbClr val="E0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525780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221224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Missionary vs. Mercenary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495544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Are support teams driven by
mission or by KPI box-checking?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522122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01C24"/>
                </a:solidFill>
              </a:rPr>
              <a:t>❌ FAIL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8B0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45720"/>
          </a:xfrm>
          <a:prstGeom prst="rect">
            <a:avLst/>
          </a:prstGeom>
          <a:solidFill>
            <a:srgbClr val="E0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AAA"/>
                </a:solidFill>
              </a:rPr>
              <a:t>PHASE 1 —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Transformation Memo: Key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15568"/>
            <a:ext cx="73152" cy="1188720"/>
          </a:xfrm>
          <a:prstGeom prst="rect">
            <a:avLst/>
          </a:prstGeom>
          <a:solidFill>
            <a:srgbClr val="E0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11430000" cy="11887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1C24"/>
                </a:solidFill>
              </a:rPr>
              <a:t>Empowered Teams — PARTIAL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27048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F4F8"/>
                </a:solidFill>
              </a:rPr>
              <a:t>Consumer product teams ARE empowered (NPS-driven, autonomous). Legal/Compliance are NOT — they operate as a shared service responding to tickets. No Legal Product Manager exists. No outcome ownership.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505456"/>
            <a:ext cx="73152" cy="1188720"/>
          </a:xfrm>
          <a:prstGeom prst="rect">
            <a:avLst/>
          </a:prstGeom>
          <a:solidFill>
            <a:srgbClr val="E0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505456"/>
            <a:ext cx="11430000" cy="11887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78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1C24"/>
                </a:solidFill>
              </a:rPr>
              <a:t>Outcome Orientation — FAIL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16936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F4F8"/>
                </a:solidFill>
              </a:rPr>
              <a:t>Consumer products measure MAU and NPS. Legal measures contracts reviewed per week. With $5.32B revenue flowing through 3 regulatory bodies, this is a strategic liability.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95344"/>
            <a:ext cx="73152" cy="1188720"/>
          </a:xfrm>
          <a:prstGeom prst="rect">
            <a:avLst/>
          </a:prstGeom>
          <a:solidFill>
            <a:srgbClr val="E0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895344"/>
            <a:ext cx="11430000" cy="11887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96849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1C24"/>
                </a:solidFill>
              </a:rPr>
              <a:t>Continuous Discovery — FAIL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306824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F4F8"/>
                </a:solidFill>
              </a:rPr>
              <a:t>Zero evidence of structured internal discovery in Legal or Procurement. These teams wait to be asked — classic IT-service trap (Cagan). The legal team has never been treated as a product stakeholder.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285232"/>
            <a:ext cx="73152" cy="1188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5285232"/>
            <a:ext cx="11430000" cy="11887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35838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</a:rPr>
              <a:t>Missionary Culture — FAIL (Back-Office)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696712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F4F8"/>
                </a:solidFill>
              </a:rPr>
              <a:t>Consumer mission ('improve lives of Kazakhstanis through tech') is genuine. Back-office exhibits mercenary dynamics: Legal reviews to avoid liability, not to enable business. Output-optimized, not outcome-oriented.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0AAB8"/>
                </a:solidFill>
              </a:rPr>
              <a:t>→  File: transformation_memo.md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45720"/>
          </a:xfrm>
          <a:prstGeom prst="rect">
            <a:avLst/>
          </a:prstGeom>
          <a:solidFill>
            <a:srgbClr val="53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3B8D4"/>
                </a:solidFill>
              </a:rPr>
              <a:t>PHASE 2 — DEEP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 JTBD Interview: AI Persona &amp; 5 Whys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15568"/>
            <a:ext cx="5029200" cy="32004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15568"/>
            <a:ext cx="5029200" cy="54864"/>
          </a:xfrm>
          <a:prstGeom prst="rect">
            <a:avLst/>
          </a:prstGeom>
          <a:solidFill>
            <a:srgbClr val="53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704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3B8D4"/>
                </a:solidFill>
              </a:rPr>
              <a:t>👤  AI PERSONA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Aizat Bekova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38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3B8D4"/>
                </a:solidFill>
              </a:rPr>
              <a:t>Senior Legal Counsel, Kaspi Bank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7 years at Kaspi (joined 2018)</a:t>
            </a:r>
          </a:p>
          <a:p>
            <a:pPr algn="l"/>
            <a:r>
              <a:rPr sz="1200" b="0">
                <a:solidFill>
                  <a:srgbClr val="F0F4F8"/>
                </a:solidFill>
              </a:rPr>
              <a:t>Reviews 15–25 contracts per week</a:t>
            </a:r>
          </a:p>
          <a:p>
            <a:pPr algn="l"/>
            <a:r>
              <a:rPr sz="1200" b="0">
                <a:solidFill>
                  <a:srgbClr val="F0F4F8"/>
                </a:solidFill>
              </a:rPr>
              <a:t>Tools: Word + tracked changes + email</a:t>
            </a:r>
          </a:p>
          <a:p>
            <a:pPr algn="l"/>
            <a:r>
              <a:rPr sz="1200" b="0">
                <a:solidFill>
                  <a:srgbClr val="F0F4F8"/>
                </a:solidFill>
              </a:rPr>
              <a:t>Works until 9 PM regularly</a:t>
            </a:r>
          </a:p>
          <a:p>
            <a:pPr algn="l"/>
            <a:r>
              <a:rPr sz="1200" b="0">
                <a:solidFill>
                  <a:srgbClr val="F0F4F8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F0F4F8"/>
                </a:solidFill>
              </a:rPr>
              <a:t>"My manager calls me thorough.</a:t>
            </a:r>
          </a:p>
          <a:p>
            <a:pPr algn="l"/>
            <a:r>
              <a:rPr sz="1200" b="0">
                <a:solidFill>
                  <a:srgbClr val="F0F4F8"/>
                </a:solidFill>
              </a:rPr>
              <a:t> I would call myself terrified."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1115568"/>
            <a:ext cx="6309360" cy="14630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77840" y="1115568"/>
            <a:ext cx="630936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117043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SURFACE PROBLEM (before 5 Whys)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50876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"Contract review is too slow — takes 2-8 days per contract"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2743200"/>
            <a:ext cx="6309360" cy="164592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2743200"/>
            <a:ext cx="630936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279806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ROOT CAUSE (after 5 Whys)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145536"/>
            <a:ext cx="59436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"Lawyers are personally liable under KZ banking law — so they rationally RESIST automation that removes their control, even when they know it would help."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480560"/>
            <a:ext cx="11612880" cy="1234440"/>
          </a:xfrm>
          <a:prstGeom prst="rect">
            <a:avLst/>
          </a:prstGeom>
          <a:solidFill>
            <a:srgbClr val="06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480560"/>
            <a:ext cx="11612880" cy="54864"/>
          </a:xfrm>
          <a:prstGeom prst="rect">
            <a:avLst/>
          </a:prstGeom>
          <a:solidFill>
            <a:srgbClr val="53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5354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3B8D4"/>
                </a:solidFill>
              </a:rPr>
              <a:t>JOB TO BE DONE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864608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"When I receive a contract for review, help me quickly identify high-risk clauses so I can make confident, DEFENSIBLE decisions — without fear of personal regulatory liability."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06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3B8D4"/>
                </a:solidFill>
              </a:rPr>
              <a:t>The job is NOT 'review contracts faster.' The job is 'make confident decisions without fear.'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45720"/>
          </a:xfrm>
          <a:prstGeom prst="rect">
            <a:avLst/>
          </a:prstGeom>
          <a:solidFill>
            <a:srgbClr val="53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3B8D4"/>
                </a:solidFill>
              </a:rPr>
              <a:t>PHASE 2 — INTERVIEW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 5 Whys Chain — Root Cause Discovery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15568"/>
            <a:ext cx="1005840" cy="960120"/>
          </a:xfrm>
          <a:prstGeom prst="rect">
            <a:avLst/>
          </a:prstGeom>
          <a:solidFill>
            <a:srgbClr val="53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07008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WHY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544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1115568"/>
            <a:ext cx="10424160" cy="960120"/>
          </a:xfrm>
          <a:prstGeom prst="rect">
            <a:avLst/>
          </a:prstGeom>
          <a:solidFill>
            <a:srgbClr val="1A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200" y="116128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3B8D4"/>
                </a:solidFill>
              </a:rPr>
              <a:t>Why does review take so long?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499616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</a:rPr>
              <a:t>No pre-screening exists. Every contract, regardless of size, reaches senior counsel with zero pre-processing. Lawyer is first AND last line of defense.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31136"/>
            <a:ext cx="1005840" cy="960120"/>
          </a:xfrm>
          <a:prstGeom prst="rect">
            <a:avLst/>
          </a:prstGeom>
          <a:solidFill>
            <a:srgbClr val="53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322576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WHY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670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17320" y="2231136"/>
            <a:ext cx="10424160" cy="960120"/>
          </a:xfrm>
          <a:prstGeom prst="rect">
            <a:avLst/>
          </a:prstGeom>
          <a:solidFill>
            <a:srgbClr val="1A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227685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3B8D4"/>
                </a:solidFill>
              </a:rPr>
              <a:t>Why no pre-screening tool?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615184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</a:rPr>
              <a:t>IT proposed 18-month implementation timeline. Budget was cut. Meanwhile Marketplace GMV grew +39% YoY, generating more contracts without more lawyers.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346704"/>
            <a:ext cx="1005840" cy="960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438144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WHY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785616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7320" y="3346704"/>
            <a:ext cx="10424160" cy="960120"/>
          </a:xfrm>
          <a:prstGeom prst="rect">
            <a:avLst/>
          </a:prstGeom>
          <a:solidFill>
            <a:srgbClr val="1A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00200" y="339242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Why hasn't Legal pushed harder for tooling?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7307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</a:rPr>
              <a:t>Lawyers fear: if a tool makes a mistake and they 'approved the output' — are they still protected? Under KZ law, regulatory liability names individuals, not software.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462272"/>
            <a:ext cx="1005840" cy="960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455371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WHY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4901183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17320" y="4462272"/>
            <a:ext cx="10424160" cy="960120"/>
          </a:xfrm>
          <a:prstGeom prst="rect">
            <a:avLst/>
          </a:prstGeom>
          <a:solidFill>
            <a:srgbClr val="1A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00200" y="450799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Why no governance framework for AI tools?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4846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</a:rPr>
              <a:t>Nobody asked Legal to co-design it. AI mandate comes top-down. Legal received announcements, not frameworks. They were not in the room when tools were chosen.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577840"/>
            <a:ext cx="1005840" cy="960120"/>
          </a:xfrm>
          <a:prstGeom prst="rect">
            <a:avLst/>
          </a:prstGeom>
          <a:solidFill>
            <a:srgbClr val="E0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5669279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WHY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01675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17320" y="5577840"/>
            <a:ext cx="10424160" cy="960120"/>
          </a:xfrm>
          <a:prstGeom prst="rect">
            <a:avLst/>
          </a:prstGeom>
          <a:solidFill>
            <a:srgbClr val="1A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00200" y="5623559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1C24"/>
                </a:solidFill>
              </a:rPr>
              <a:t>Why excluded from the design process?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96188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</a:rPr>
              <a:t>Legal is seen as overhead — a cost center that slows things down. They are treated as passive executors, not empowered experts. Yet they understand risk better than anyone.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5836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0AAB8"/>
                </a:solidFill>
              </a:rPr>
              <a:t>→  File: interview_log.md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45720"/>
          </a:xfrm>
          <a:prstGeom prst="rect">
            <a:avLst/>
          </a:prstGeom>
          <a:solidFill>
            <a:srgbClr val="53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3B8D4"/>
                </a:solidFill>
              </a:rPr>
              <a:t>PHASE 2 —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PRD: Kaspi Legal Intelligence Agent (KLIA)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15568"/>
            <a:ext cx="5577840" cy="5394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15568"/>
            <a:ext cx="5577840" cy="54864"/>
          </a:xfrm>
          <a:prstGeom prst="rect">
            <a:avLst/>
          </a:prstGeom>
          <a:solidFill>
            <a:srgbClr val="53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704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3B8D4"/>
                </a:solidFill>
              </a:rPr>
              <a:t>🤖  WHAT KLIA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1.  Ingests contracts (PDF / Word, up to 100 pages)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2.  Detects &amp; classifies clauses by type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     (liability, data processing, governing law...)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3.  Cross-references KZ legal ruleset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     (Civil Code · Law No. 94-V · AFDRA rules)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4.  Assigns risk score: GREEN / AMBER / RED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5.  Generates structured risk report with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     specific legal references + suggestions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6.  Logs immutable audit trail (7-year retention)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7.  Routes RED contracts to Head of Legal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⚠️  KLIA does NOT approve contracts.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     Human lawyer has final authority — always.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     This distinction is critical for liability.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115568"/>
            <a:ext cx="5760720" cy="256032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115568"/>
            <a:ext cx="5760720" cy="54864"/>
          </a:xfrm>
          <a:prstGeom prst="rect">
            <a:avLst/>
          </a:prstGeom>
          <a:solidFill>
            <a:srgbClr val="53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1704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3B8D4"/>
                </a:solidFill>
              </a:rPr>
              <a:t>⚙️  KEY 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554480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Languages:    Kazakh + Russian + English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Response:     &lt; 5 min for 30-page contract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Availability: 99.5% uptime (09:00–22:00 AST)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Data:         On-premises, KZ residency compliant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Audit log:    Retained 7 years (financial reqs)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Explainability: Every flag cites a legal article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3858768"/>
            <a:ext cx="5760720" cy="26517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3858768"/>
            <a:ext cx="57607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9136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📈  SUCCESS 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3159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</a:rPr>
              <a:t>Review cycle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43159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7E22"/>
                </a:solidFill>
              </a:rPr>
              <a:t>2-8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431596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AAB8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431596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</a:rPr>
              <a:t>&lt; 1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9743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</a:rPr>
              <a:t>Lawyer overtime/week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497433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7E22"/>
                </a:solidFill>
              </a:rPr>
              <a:t>~10 hrs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497433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AAB8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497433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</a:rPr>
              <a:t>&lt; 3 hrs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63270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</a:rPr>
              <a:t>Contracts/lawyer/week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563270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7E22"/>
                </a:solidFill>
              </a:rPr>
              <a:t>15-25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563270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AAB8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563270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</a:rPr>
              <a:t>40-60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5836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0AAB8"/>
                </a:solidFill>
              </a:rPr>
              <a:t>→  File: prd.md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4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45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PHASE 3 — FINANCIAL REASONING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ROI Calculation: Is KLIA Worth Building?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15568"/>
            <a:ext cx="5303520" cy="28346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15568"/>
            <a:ext cx="530352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704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💸  COST OF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Senior lawyer salary (hh.kz):  650,000 KZT/mo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Hourly rate:  4,063 KZT/hr  (~$8.75)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Wasted time:  10 hrs/week × 4 weeks = 40 hrs/mo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Cost per lawyer/month:  162,500 KZT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Legal team size (est.):  20 senior lawyers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Total monthly waste:  3,250,000 KZT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Annual cost of status quo:  39,000,000 KZT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                           (~$84,000 USD/year)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115568"/>
            <a:ext cx="6035040" cy="28346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52160" y="1115568"/>
            <a:ext cx="6035040" cy="54864"/>
          </a:xfrm>
          <a:prstGeom prst="rect">
            <a:avLst/>
          </a:prstGeom>
          <a:solidFill>
            <a:srgbClr val="53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17043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3B8D4"/>
                </a:solidFill>
              </a:rPr>
              <a:t>🔧  COST OF THE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554480"/>
            <a:ext cx="5760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One-time build:       26,000,000 KZT  (~$56K)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  · Fine-tuning + rule engine + frontend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  · On-premises API gateway (data residency)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  · Legal governance sign-off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Annual operating:      7,284,000 KZT  (~$16K)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  · Claude API tokens:  84,000 KZT ($180/yr!)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  · Maintenance 0.5 FTE: 6,000,000 KZT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  · Server hosting:    1,200,000 KZT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114800"/>
            <a:ext cx="11612880" cy="2423160"/>
          </a:xfrm>
          <a:prstGeom prst="rect">
            <a:avLst/>
          </a:prstGeom>
          <a:solidFill>
            <a:srgbClr val="0A3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4114800"/>
            <a:ext cx="1161288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169663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📊  ROI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5720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0AAB8"/>
                </a:solidFill>
              </a:rPr>
              <a:t>Net Annual Benefit (from Year 2):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5720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7AE60"/>
                </a:solidFill>
              </a:rPr>
              <a:t>31,716,000 KZT  /  $68,300 USD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5720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0AAB8"/>
                </a:solidFill>
              </a:rPr>
              <a:t>Payback Period: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45720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~10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389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0AAB8"/>
                </a:solidFill>
              </a:rPr>
              <a:t>Year 1 ROI: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13892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39C12"/>
                </a:solidFill>
              </a:rPr>
              <a:t>17.2%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51389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0AAB8"/>
                </a:solidFill>
              </a:rPr>
              <a:t>Year 2+ ROI: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513892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7AE60"/>
                </a:solidFill>
              </a:rPr>
              <a:t>435% annually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7058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0AAB8"/>
                </a:solidFill>
              </a:rPr>
              <a:t>3-Year NPV (12% discount):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570585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7AE60"/>
                </a:solidFill>
              </a:rPr>
              <a:t>+32,681,000 KZT  /  ~$70,400 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57058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0AAB8"/>
                </a:solidFill>
              </a:rPr>
              <a:t>API token cost vs. salary savings: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570585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3B8D4"/>
                </a:solidFill>
              </a:rPr>
              <a:t>$180/year vs. $84,000/year  (0.2%)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5836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0AAB8"/>
                </a:solidFill>
              </a:rPr>
              <a:t>→  File: executive_summary.md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A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PHASE 3 — GOVERNANCE &amp;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Kazakhstan AI Ethics Test: 5 Risks Evaluated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15568"/>
            <a:ext cx="5623559" cy="1554480"/>
          </a:xfrm>
          <a:prstGeom prst="rect">
            <a:avLst/>
          </a:prstGeom>
          <a:solidFill>
            <a:srgbClr val="1A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15568"/>
            <a:ext cx="5623559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18872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DATA RESIDENCY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79" y="116128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67E22"/>
                </a:solidFill>
              </a:rPr>
              <a:t>HIGH → mitigated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499616"/>
            <a:ext cx="5349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</a:rPr>
              <a:t>KZ Law No. 94-V (2021): PII of KZ citizens must stay in Kazakhstan. Cannot send contracts to foreign cloud AI directly. Mitigation: on-premises API gateway.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377439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0AAB8"/>
                </a:solidFill>
              </a:rPr>
              <a:t>Residual: LOW after fix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115568"/>
            <a:ext cx="5623559" cy="1554480"/>
          </a:xfrm>
          <a:prstGeom prst="rect">
            <a:avLst/>
          </a:prstGeom>
          <a:solidFill>
            <a:srgbClr val="1A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115568"/>
            <a:ext cx="5623559" cy="54864"/>
          </a:xfrm>
          <a:prstGeom prst="rect">
            <a:avLst/>
          </a:prstGeom>
          <a:solidFill>
            <a:srgbClr val="E0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18872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1C24"/>
                </a:solidFill>
              </a:rPr>
              <a:t>AI LIABILITY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116128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01C24"/>
                </a:solidFill>
              </a:rPr>
              <a:t>HIGH → managed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499616"/>
            <a:ext cx="5349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</a:rPr>
              <a:t>KZ banking law names individual officers — not software — as liable. No legal precedent for AI compliance calls. Mitigation: formal AI Decision-Support Policy + AFDRA notification.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377439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0AAB8"/>
                </a:solidFill>
              </a:rPr>
              <a:t>Residual: MEDIUM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834639"/>
            <a:ext cx="5623559" cy="1554480"/>
          </a:xfrm>
          <a:prstGeom prst="rect">
            <a:avLst/>
          </a:prstGeom>
          <a:solidFill>
            <a:srgbClr val="1A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2834639"/>
            <a:ext cx="5623559" cy="54864"/>
          </a:xfrm>
          <a:prstGeom prst="rect">
            <a:avLst/>
          </a:prstGeom>
          <a:solidFill>
            <a:srgbClr val="E0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907791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1C24"/>
                </a:solidFill>
              </a:rPr>
              <a:t>HALLUCINATION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79" y="2880359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01C24"/>
                </a:solidFill>
              </a:rPr>
              <a:t>HIGH → mitigated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3218687"/>
            <a:ext cx="5349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</a:rPr>
              <a:t>LLMs can invent legal citations. Mitigation: deterministic citation engine (rule DB, not LLM) for all legal references. LLM used only for clause detection + explanation.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4096511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0AAB8"/>
                </a:solidFill>
              </a:rPr>
              <a:t>Residual: LOW-MED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2834639"/>
            <a:ext cx="5623559" cy="1554480"/>
          </a:xfrm>
          <a:prstGeom prst="rect">
            <a:avLst/>
          </a:prstGeom>
          <a:solidFill>
            <a:srgbClr val="1A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2834639"/>
            <a:ext cx="5623559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907791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</a:rPr>
              <a:t>TRANSPARENCY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2880359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39C12"/>
                </a:solidFill>
              </a:rPr>
              <a:t>MED → managed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218687"/>
            <a:ext cx="5349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</a:rPr>
              <a:t>KZ National AI Concept 2024-2029 requires explainable AI in sensitive domains. Mitigation: every risk flag cites a specific legal article. Full audit trail exported for AFDRA.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096511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0AAB8"/>
                </a:solidFill>
              </a:rPr>
              <a:t>Residual: LOW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553712"/>
            <a:ext cx="11430000" cy="1554480"/>
          </a:xfrm>
          <a:prstGeom prst="rect">
            <a:avLst/>
          </a:prstGeom>
          <a:solidFill>
            <a:srgbClr val="1A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4553712"/>
            <a:ext cx="1143000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626864"/>
            <a:ext cx="108813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</a:rPr>
              <a:t>VENDOR DEPENDENCY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4599431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39C12"/>
                </a:solidFill>
              </a:rPr>
              <a:t>MED → 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79" y="4937759"/>
            <a:ext cx="11155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</a:rPr>
              <a:t>Single foreign AI vendor (Anthropic) is a risk for critical compliance function. Mitigation: model-agnostic API layer — swap to local/open-source model without rebuilding product.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79" y="5815583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0AAB8"/>
                </a:solidFill>
              </a:rPr>
              <a:t>Residual: 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B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45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PHASE 3 — EXECUTIVE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Go / No-Go Verdict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15568"/>
            <a:ext cx="11612880" cy="1371600"/>
          </a:xfrm>
          <a:prstGeom prst="rect">
            <a:avLst/>
          </a:prstGeom>
          <a:solidFill>
            <a:srgbClr val="0A3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15568"/>
            <a:ext cx="1161288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15568"/>
            <a:ext cx="237744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261872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✅ 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7830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CONDITIONAL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207008"/>
            <a:ext cx="8869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Proceed with Phase 1 pilot. The financial case is strong. Governance risks are real but manageable. The worst outcome is NOT building — it means continuing to scale Legal reactively as Kaspi's Marketplace grows at 39% YoY.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97480"/>
            <a:ext cx="11612880" cy="338328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697480"/>
            <a:ext cx="1161288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CONDITIONS FOR GO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27832"/>
            <a:ext cx="347472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2278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22783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F4F8"/>
                </a:solidFill>
              </a:rPr>
              <a:t>Data Residency Architecture Review — CTO to certify KLIA meets Law No. 94-V before any contract data is processed.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94759"/>
            <a:ext cx="347472" cy="347472"/>
          </a:xfrm>
          <a:prstGeom prst="rect">
            <a:avLst/>
          </a:prstGeom>
          <a:solidFill>
            <a:srgbClr val="53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9475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794759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F4F8"/>
                </a:solidFill>
              </a:rPr>
              <a:t>AI Decision-Support Policy — CLO approves and publishes internal policy defining KLIA role, human obligations, liability attribution. Due 30 days before pilot.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361688"/>
            <a:ext cx="347472" cy="347472"/>
          </a:xfrm>
          <a:prstGeom prst="rect">
            <a:avLst/>
          </a:prstGeom>
          <a:solidFill>
            <a:srgbClr val="53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36168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36168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F4F8"/>
                </a:solidFill>
              </a:rPr>
              <a:t>AFDRA Notification — Compliance team notifies AFDRA of pilot under operational change process. Engage proactively, not reactively.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928616"/>
            <a:ext cx="347472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92861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92861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F4F8"/>
                </a:solidFill>
              </a:rPr>
              <a:t>Pilot Scope Limit — Phase 1: LOW and MEDIUM risk contracts only. RED contracts stay on manual review until 6-month pilot validated.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495544"/>
            <a:ext cx="347472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49554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495544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F4F8"/>
                </a:solidFill>
              </a:rPr>
              <a:t>Hallucination Testing — Run KLIA against 100 historical contracts with known-correct analysis. Accuracy must exceed 90% before launch.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1996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0AAB8"/>
                </a:solidFill>
              </a:rPr>
              <a:t>→  File: executive_summary.md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45720"/>
          </a:xfrm>
          <a:prstGeom prst="rect">
            <a:avLst/>
          </a:prstGeom>
          <a:solidFill>
            <a:srgbClr val="53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3B8D4"/>
                </a:solidFill>
              </a:rPr>
              <a:t>SUBMISSION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All 5 Artifacts — TSIS1/ Folder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15568"/>
            <a:ext cx="5715000" cy="164592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15568"/>
            <a:ext cx="5715000" cy="54864"/>
          </a:xfrm>
          <a:prstGeom prst="rect">
            <a:avLst/>
          </a:prstGeom>
          <a:solidFill>
            <a:srgbClr val="E0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59" y="11887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01C24"/>
                </a:solidFill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1887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System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5270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01C24"/>
                </a:solidFill>
              </a:rPr>
              <a:t>system_prompt.txt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773936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Exact instructions for Cagan Audit, loading Kaspi FY2024 Annual Report, 4Q Earnings, KASE disclosures, ESG Report. Specifies 4 pillars and output format.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115568"/>
            <a:ext cx="5715000" cy="164592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115568"/>
            <a:ext cx="5715000" cy="54864"/>
          </a:xfrm>
          <a:prstGeom prst="rect">
            <a:avLst/>
          </a:prstGeom>
          <a:solidFill>
            <a:srgbClr val="E0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27080" y="11887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01C24"/>
                </a:solidFill>
              </a:rPr>
              <a:t>Phase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1887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Transformation Memo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5270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01C24"/>
                </a:solidFill>
              </a:rPr>
              <a:t>transformation_memo.md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773936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1-page AI-generated audit citing $5.32B revenue, 75% margins, NPS org model. Identifies 4 failures in back-office vs. Cagan's Product Operating Model.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926080"/>
            <a:ext cx="5715000" cy="164592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2926080"/>
            <a:ext cx="5715000" cy="54864"/>
          </a:xfrm>
          <a:prstGeom prst="rect">
            <a:avLst/>
          </a:prstGeom>
          <a:solidFill>
            <a:srgbClr val="53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59" y="299923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3B8D4"/>
                </a:solidFill>
              </a:rPr>
              <a:t>Phase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29992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Interview 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33375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3B8D4"/>
                </a:solidFill>
              </a:rPr>
              <a:t>interview_log.md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3584448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Full transcript of 5 Whys with Aizat Bekova persona. Non-obvious insight: lawyers resist AI because of personal liability structure, not technophobia.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2926080"/>
            <a:ext cx="5715000" cy="164592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2926080"/>
            <a:ext cx="5715000" cy="54864"/>
          </a:xfrm>
          <a:prstGeom prst="rect">
            <a:avLst/>
          </a:prstGeom>
          <a:solidFill>
            <a:srgbClr val="53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27080" y="299923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3B8D4"/>
                </a:solidFill>
              </a:rPr>
              <a:t>Phase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9992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Product PRD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3375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3B8D4"/>
                </a:solidFill>
              </a:rPr>
              <a:t>prd.md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584448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Full Product Requirements Document for Kaspi Legal Intelligence Agent (KLIA) — JTBD, 8 functional requirements, success metrics, technical architecture, stakeholders.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736592"/>
            <a:ext cx="5715000" cy="164592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4736592"/>
            <a:ext cx="57150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59" y="48097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7AE60"/>
                </a:solidFill>
              </a:rPr>
              <a:t>Phase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79" y="48097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79" y="514807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7AE60"/>
                </a:solidFill>
              </a:rPr>
              <a:t>executive_summary.md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79" y="5394959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ROI: 435% Year 2+, $70K NPV, $180/yr API cost vs. $84K/yr savings. 5 governance risks with KZ-specific laws (No. 94-V, AFDRA). Conditional Go/No-Go verdict.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4736592"/>
            <a:ext cx="5715000" cy="164592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4736592"/>
            <a:ext cx="5715000" cy="54864"/>
          </a:xfrm>
          <a:prstGeom prst="rect">
            <a:avLst/>
          </a:prstGeom>
          <a:solidFill>
            <a:srgbClr val="A0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27080" y="48097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AB8"/>
                </a:solidFill>
              </a:rPr>
              <a:t>Context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8097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Source Documents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14807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0AAB8"/>
                </a:solidFill>
              </a:rPr>
              <a:t>kaspi_sources.md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394959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All 12 primary and secondary sources: SEC 20-F, KASE filings, Earnings Release, ESG Report, KZ laws cited. Full citation list with URLs and specific data points extracted.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583680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AB8"/>
                </a:solidFill>
              </a:rPr>
              <a:t>Grading rubric: Context Engineering · Discovery Depth · Financial Logic · Governance &amp; Ethics  —  5pts each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